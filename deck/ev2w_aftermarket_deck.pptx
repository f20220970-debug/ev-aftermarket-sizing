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swer" id="{b3c8557b-ff39-a589-24f8-fc467f4ec7bc}">
          <p14:sldIdLst>
            <p14:sldId id="256"/>
            <p14:sldId id="257"/>
          </p14:sldIdLst>
        </p14:section>
        <p14:section name="Market" id="{9905d2c6-7410-c944-dcd3-4654111db1ef}">
          <p14:sldIdLst>
            <p14:sldId id="258"/>
            <p14:sldId id="259"/>
            <p14:sldId id="260"/>
          </p14:sldIdLst>
        </p14:section>
        <p14:section name="Sizing" id="{8ac49c99-962f-6f46-a47d-96b2b65975c5}">
          <p14:sldIdLst>
            <p14:sldId id="261"/>
            <p14:sldId id="262"/>
            <p14:sldId id="263"/>
          </p14:sldIdLst>
        </p14:section>
        <p14:section name="Implications" id="{55ed9764-6472-542f-b01c-ff3aa674cba6}">
          <p14:sldIdLst>
            <p14:sldId id="264"/>
            <p14:sldId id="265"/>
            <p14:sldId id="266"/>
          </p14:sldIdLst>
        </p14:section>
        <p14:section name="Appendix" id="{4fc5582e-76ed-1859-4425-1038c573f86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E2W sales, lakh units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E2W sales (lakh units)</c:v>
                </c:pt>
              </c:strCache>
            </c:strRef>
          </c:tx>
          <c:spPr>
            <a:solidFill>
              <a:srgbClr val="028A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C4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 (est.)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7.3</c:v>
                </c:pt>
                <c:pt idx="2">
                  <c:v>9.5</c:v>
                </c:pt>
                <c:pt idx="3">
                  <c:v>11.5</c:v>
                </c:pt>
                <c:pt idx="4">
                  <c:v>14.8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3C4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Total aftermarket, ₹ Cr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solidFill>
              <a:srgbClr val="9DB4C0"/>
            </a:solidFill>
            <a:ln w="38100" cap="flat">
              <a:solidFill>
                <a:srgbClr val="9DB4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DB4C0"/>
              </a:solidFill>
              <a:ln w="9525" cap="flat">
                <a:solidFill>
                  <a:srgbClr val="9DB4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</c:v>
                  </c:pt>
                  <c:pt idx="6">
                    <c:v>FY28</c:v>
                  </c:pt>
                  <c:pt idx="7">
                    <c:v>FY29</c:v>
                  </c:pt>
                  <c:pt idx="8">
                    <c:v>FY30</c:v>
                  </c:pt>
                  <c:pt idx="9">
                    <c:v>FY31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49</c:v>
                </c:pt>
                <c:pt idx="2">
                  <c:v>189</c:v>
                </c:pt>
                <c:pt idx="3">
                  <c:v>367</c:v>
                </c:pt>
                <c:pt idx="4">
                  <c:v>579</c:v>
                </c:pt>
                <c:pt idx="5">
                  <c:v>849</c:v>
                </c:pt>
                <c:pt idx="6">
                  <c:v>1539</c:v>
                </c:pt>
                <c:pt idx="7">
                  <c:v>2525</c:v>
                </c:pt>
                <c:pt idx="8">
                  <c:v>3091</c:v>
                </c:pt>
                <c:pt idx="9">
                  <c:v>3622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028A74"/>
            </a:solidFill>
            <a:ln w="38100" cap="flat">
              <a:solidFill>
                <a:srgbClr val="028A7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A74"/>
              </a:solidFill>
              <a:ln w="9525" cap="flat">
                <a:solidFill>
                  <a:srgbClr val="028A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</c:v>
                  </c:pt>
                  <c:pt idx="6">
                    <c:v>FY28</c:v>
                  </c:pt>
                  <c:pt idx="7">
                    <c:v>FY29</c:v>
                  </c:pt>
                  <c:pt idx="8">
                    <c:v>FY30</c:v>
                  </c:pt>
                  <c:pt idx="9">
                    <c:v>FY31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73</c:v>
                </c:pt>
                <c:pt idx="2">
                  <c:v>283</c:v>
                </c:pt>
                <c:pt idx="3">
                  <c:v>551</c:v>
                </c:pt>
                <c:pt idx="4">
                  <c:v>869</c:v>
                </c:pt>
                <c:pt idx="5">
                  <c:v>1273</c:v>
                </c:pt>
                <c:pt idx="6">
                  <c:v>2252</c:v>
                </c:pt>
                <c:pt idx="7">
                  <c:v>3660</c:v>
                </c:pt>
                <c:pt idx="8">
                  <c:v>4618</c:v>
                </c:pt>
                <c:pt idx="9">
                  <c:v>5627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solidFill>
              <a:srgbClr val="F2A541"/>
            </a:solidFill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</c:v>
                  </c:pt>
                  <c:pt idx="6">
                    <c:v>FY28</c:v>
                  </c:pt>
                  <c:pt idx="7">
                    <c:v>FY29</c:v>
                  </c:pt>
                  <c:pt idx="8">
                    <c:v>FY30</c:v>
                  </c:pt>
                  <c:pt idx="9">
                    <c:v>FY31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98</c:v>
                </c:pt>
                <c:pt idx="2">
                  <c:v>378</c:v>
                </c:pt>
                <c:pt idx="3">
                  <c:v>734</c:v>
                </c:pt>
                <c:pt idx="4">
                  <c:v>1158</c:v>
                </c:pt>
                <c:pt idx="5">
                  <c:v>1697</c:v>
                </c:pt>
                <c:pt idx="6">
                  <c:v>2993</c:v>
                </c:pt>
                <c:pt idx="7">
                  <c:v>4901</c:v>
                </c:pt>
                <c:pt idx="8">
                  <c:v>6403</c:v>
                </c:pt>
                <c:pt idx="9">
                  <c:v>8156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Base case, ₹ Cr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Service + wear parts</c:v>
                </c:pt>
              </c:strCache>
            </c:strRef>
          </c:tx>
          <c:spPr>
            <a:solidFill>
              <a:srgbClr val="028A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</c:v>
                  </c:pt>
                  <c:pt idx="6">
                    <c:v>FY28</c:v>
                  </c:pt>
                  <c:pt idx="7">
                    <c:v>FY29</c:v>
                  </c:pt>
                  <c:pt idx="8">
                    <c:v>FY30</c:v>
                  </c:pt>
                  <c:pt idx="9">
                    <c:v>FY31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73</c:v>
                </c:pt>
                <c:pt idx="2">
                  <c:v>283</c:v>
                </c:pt>
                <c:pt idx="3">
                  <c:v>551</c:v>
                </c:pt>
                <c:pt idx="4">
                  <c:v>869</c:v>
                </c:pt>
                <c:pt idx="5">
                  <c:v>1273</c:v>
                </c:pt>
                <c:pt idx="6">
                  <c:v>1751</c:v>
                </c:pt>
                <c:pt idx="7">
                  <c:v>2319</c:v>
                </c:pt>
                <c:pt idx="8">
                  <c:v>2993</c:v>
                </c:pt>
                <c:pt idx="9">
                  <c:v>3795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Battery replacement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</c:v>
                  </c:pt>
                  <c:pt idx="6">
                    <c:v>FY28</c:v>
                  </c:pt>
                  <c:pt idx="7">
                    <c:v>FY29</c:v>
                  </c:pt>
                  <c:pt idx="8">
                    <c:v>FY30</c:v>
                  </c:pt>
                  <c:pt idx="9">
                    <c:v>FY31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500</c:v>
                </c:pt>
                <c:pt idx="7">
                  <c:v>1342</c:v>
                </c:pt>
                <c:pt idx="8">
                  <c:v>1625</c:v>
                </c:pt>
                <c:pt idx="9">
                  <c:v>1832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India E2W aftermarket sizing · Pavitra Seth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EV two-wheeler aftermarket: ₹869 Cr today, about ₹5,627 Cr by FY31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Market sizing of servicing and battery replacement, FY22–FY31 · bottom-up model with bear / base / bull scenarios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summary: a small market today that grows about 6x in five years</a:t>
            </a:r>
            <a:endParaRPr lang="en-US" sz="2600" dirty="0"/>
          </a:p>
        </p:txBody>
      </p:sp>
      <p:sp>
        <p:nvSpPr>
          <p:cNvPr id="3" name="stat card"/>
          <p:cNvSpPr/>
          <p:nvPr/>
        </p:nvSpPr>
        <p:spPr>
          <a:xfrm>
            <a:off x="548640" y="13716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₹869 Cr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Base-case aftermarket in FY26 (service and wear parts only; batteries not yet due)</a:t>
            </a:r>
            <a:endParaRPr lang="en-US" sz="1300" dirty="0"/>
          </a:p>
        </p:txBody>
      </p:sp>
      <p:sp>
        <p:nvSpPr>
          <p:cNvPr id="6" name="stat card"/>
          <p:cNvSpPr/>
          <p:nvPr/>
        </p:nvSpPr>
        <p:spPr>
          <a:xfrm>
            <a:off x="4297680" y="13716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₹5,627 Cr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FY31 base case; bear ₹3,622 Cr, bull ₹8,156 Cr</a:t>
            </a:r>
            <a:endParaRPr lang="en-US" sz="1300" dirty="0"/>
          </a:p>
        </p:txBody>
      </p:sp>
      <p:sp>
        <p:nvSpPr>
          <p:cNvPr id="9" name="stat card"/>
          <p:cNvSpPr/>
          <p:nvPr/>
        </p:nvSpPr>
        <p:spPr>
          <a:xfrm>
            <a:off x="8046720" y="13716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the FY31 base market comes from battery replacements, a wave that starts in FY28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Growth comes from the fleet, not new sales alone: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fleet in use reaches about 16.3 million vehicles by FY31 in the base case, and every vehicle older than a year needs paid service.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The biggest swing factor is the battery wave: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FY23–FY25 sales (2.8 million vehicles) reach replacement age from FY29, creating a lumpy, high-value repair stream.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Where to play: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independent garages could address about ₹1,407 Cr by FY31; battery diagnostics, refurbishment and fleet contracts are the most attractive entry points.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Electric two-wheeler sales have grown about 6x since FY22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371600"/>
            <a:ext cx="3840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the data says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2.5 lakh units in FY22 → 11.5 lakh in FY25 (Vahan-based government data).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FY26 estimated at about 14.8 lakh: 2.55 million EV sales × ~58% two-wheeler share.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Still only 6.3% of all two-wheeler sales in CY2025, so most growth is ahead.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Growth slowed to +11% in CY2025: the base case assumes 20% a year, the bear case 10%.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Approach: build the market from the fleet up, then cross-check spend per vehicle</a:t>
            </a:r>
            <a:endParaRPr lang="en-US" sz="2600" dirty="0"/>
          </a:p>
        </p:txBody>
      </p:sp>
      <p:sp>
        <p:nvSpPr>
          <p:cNvPr id="3" name="step marker"/>
          <p:cNvSpPr/>
          <p:nvPr/>
        </p:nvSpPr>
        <p:spPr>
          <a:xfrm>
            <a:off x="1234440" y="1463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344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0" y="1828800"/>
            <a:ext cx="14630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Sales by year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Vahan-based E2W sales FY22–FY26; FY27–FY31 grown by scenario</a:t>
            </a:r>
            <a:endParaRPr lang="en-US" sz="1200" dirty="0"/>
          </a:p>
        </p:txBody>
      </p:sp>
      <p:sp>
        <p:nvSpPr>
          <p:cNvPr id="8" name="step marker"/>
          <p:cNvSpPr/>
          <p:nvPr/>
        </p:nvSpPr>
        <p:spPr>
          <a:xfrm>
            <a:off x="3502152" y="1463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79392" y="1828800"/>
            <a:ext cx="14630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816352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Fleet in use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year's fleet = last year's × (1 − 3% scrappage) + new sales</a:t>
            </a:r>
            <a:endParaRPr lang="en-US" sz="1200" dirty="0"/>
          </a:p>
        </p:txBody>
      </p:sp>
      <p:sp>
        <p:nvSpPr>
          <p:cNvPr id="13" name="step marker"/>
          <p:cNvSpPr/>
          <p:nvPr/>
        </p:nvSpPr>
        <p:spPr>
          <a:xfrm>
            <a:off x="5769864" y="1463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9864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47104" y="1828800"/>
            <a:ext cx="14630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084064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Service market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84064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Vehicles past their free first year × annual service and wear-parts spend</a:t>
            </a:r>
            <a:endParaRPr lang="en-US" sz="1200" dirty="0"/>
          </a:p>
        </p:txBody>
      </p:sp>
      <p:sp>
        <p:nvSpPr>
          <p:cNvPr id="18" name="step marker"/>
          <p:cNvSpPr/>
          <p:nvPr/>
        </p:nvSpPr>
        <p:spPr>
          <a:xfrm>
            <a:off x="8037576" y="1463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37576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814816" y="1828800"/>
            <a:ext cx="14630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351776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Battery wave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Sales from 6 years earlier × share replacing × falling pack price</a:t>
            </a:r>
            <a:endParaRPr lang="en-US" sz="1200" dirty="0"/>
          </a:p>
        </p:txBody>
      </p:sp>
      <p:sp>
        <p:nvSpPr>
          <p:cNvPr id="23" name="step marker"/>
          <p:cNvSpPr/>
          <p:nvPr/>
        </p:nvSpPr>
        <p:spPr>
          <a:xfrm>
            <a:off x="10305288" y="1463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05288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619488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Cross-check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19488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₹2,000–5,000 a year per e-scooter, about half a petrol scooter's cost</a:t>
            </a:r>
            <a:endParaRPr lang="en-US" sz="1200" dirty="0"/>
          </a:p>
        </p:txBody>
      </p:sp>
      <p:sp>
        <p:nvSpPr>
          <p:cNvPr id="27" name="note card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Why bottom-up: no published estimate exists for EV-specific aftermarket spend, and the EV fleet is young, so a top-down share of the petrol two-wheeler aftermarket would overstate it. Every input is in one Excel sheet, colour-coded as sourced or assumed.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scenarios bracket the uncertain inputs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463040"/>
                <a:gridCol w="146304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Bear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Bull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Basis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Annual E2W sales growth, FY27–31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10%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20%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CY25 +11%; FY25 +21%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Service + wear-parts spend per vehicle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₹2,000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₹3,000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₹4,000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Reported ₹2,000–5,000 a year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Share replacing battery at age 6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40%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50%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60%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Assumption; warranties 3–5 years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Scrappage per year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3%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3%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3%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Assumption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Battery pack price (FY26), yearly fall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₹55,000, −7%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₹55,000, −7%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₹55,000, −7%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Reported ₹55,000–60,000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Independent-garage share of spend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Assumption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Biggest uncertainties to test first: spend per vehicle (no published average) and how many owners replace a battery rather than scrap the scooter.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reaches ₹3,622 Cr–₹8,156 Cr by FY31 across scenarios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8503920" y="1371600"/>
            <a:ext cx="3108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 a year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Base-case growth FY26–FY31: fleet growth plus the battery wave</a:t>
            </a:r>
            <a:endParaRPr lang="en-US" sz="1300" dirty="0"/>
          </a:p>
        </p:txBody>
      </p:sp>
      <p:sp>
        <p:nvSpPr>
          <p:cNvPr id="7" name="stat card"/>
          <p:cNvSpPr/>
          <p:nvPr/>
        </p:nvSpPr>
        <p:spPr>
          <a:xfrm>
            <a:off x="8503920" y="3383280"/>
            <a:ext cx="3108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16.3 million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E2Ws in use by FY31 (base), up from about 4.4 million in FY26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FY28, battery replacements become a second, lumpier revenue stream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03920" y="1371600"/>
            <a:ext cx="3108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Why the jump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FY22's 2.5 lakh scooters reach age 6 in FY28; FY23's 7.3 lakh arrive in FY29.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replacement is worth about ₹38,000–48,000 over FY28–FY31, versus ₹3,000 a year for routine service.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Batteries are 33% of the FY31 base market, so battery health checks and refurbishment matter.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per vehicle moves the answer more than sales growth does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1005840"/>
                <a:gridCol w="1005840"/>
                <a:gridCol w="1005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Spend ↓ / growth →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15%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25%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₹2,000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3,988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4,166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4,362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A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4,576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4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4,811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D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₹2,500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4,527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6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4,750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4,994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9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5,262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5,555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9B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₹3,000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5,066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7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5,334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5,627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C7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5,948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BE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6,300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B4A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₹3,500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5,606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7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5,917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F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6,259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5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6,635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AB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7,045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9F8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₹4,000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6,145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8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6,501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A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6,892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3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7,321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7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7,789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A7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FY31 total aftermarket, ₹ Cr; other inputs at base case. Battery replacements in FY31 come from FY25 sales, so they don't change with future growth.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1371600"/>
            <a:ext cx="3566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Reading the grid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Moving spend from ₹2,000 to ₹4,000 adds about ₹2,200–3,000 Cr.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Moving growth from 10% to 30% adds about ₹800–1,600 Cr, because FY31's fleet is mostly vehicles already sold.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 the first piece of primary research should be what owners actually spend.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play: independent service networks have a real, growing slice</a:t>
            </a:r>
            <a:endParaRPr lang="en-US" sz="2600" dirty="0"/>
          </a:p>
        </p:txBody>
      </p:sp>
      <p:sp>
        <p:nvSpPr>
          <p:cNvPr id="3" name="stat card"/>
          <p:cNvSpPr/>
          <p:nvPr/>
        </p:nvSpPr>
        <p:spPr>
          <a:xfrm>
            <a:off x="548640" y="13716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₹1,407 Cr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FY31 spend addressable by independent garages (base, 25% share)</a:t>
            </a:r>
            <a:endParaRPr lang="en-US" sz="1300" dirty="0"/>
          </a:p>
        </p:txBody>
      </p:sp>
      <p:sp>
        <p:nvSpPr>
          <p:cNvPr id="6" name="stat card"/>
          <p:cNvSpPr/>
          <p:nvPr/>
        </p:nvSpPr>
        <p:spPr>
          <a:xfrm>
            <a:off x="4297680" y="13716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₹506 Cr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FY31 Karnataka market (base; ~9% of national EV sales)</a:t>
            </a:r>
            <a:endParaRPr lang="en-US" sz="1300" dirty="0"/>
          </a:p>
        </p:txBody>
      </p:sp>
      <p:sp>
        <p:nvSpPr>
          <p:cNvPr id="9" name="stat card"/>
          <p:cNvSpPr/>
          <p:nvPr/>
        </p:nvSpPr>
        <p:spPr>
          <a:xfrm>
            <a:off x="8046720" y="13716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~3,000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Rs per vehicle per year: price point for an annual maintenance plan</a:t>
            </a:r>
            <a:endParaRPr lang="en-US" sz="1300" dirty="0"/>
          </a:p>
        </p:txBody>
      </p:sp>
      <p:sp>
        <p:nvSpPr>
          <p:cNvPr id="12" name="play marker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290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Battery diagnostics and refurbishment: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Highest value per job; owners need advice on repair vs replace as warranties expire.</a:t>
            </a:r>
            <a:endParaRPr lang="en-US" sz="1400" dirty="0"/>
          </a:p>
        </p:txBody>
      </p:sp>
      <p:sp>
        <p:nvSpPr>
          <p:cNvPr id="15" name="play marker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2976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Fleet contracts (delivery and rental):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High-mileage scooters service more often; one contract covers many vehicles.</a:t>
            </a:r>
            <a:endParaRPr lang="en-US" sz="1400" dirty="0"/>
          </a:p>
        </p:txBody>
      </p:sp>
      <p:sp>
        <p:nvSpPr>
          <p:cNvPr id="18" name="play marker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1663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Multi-brand doorstep service: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OEM networks are likely thinner outside big cities (to verify); an on-site model avoids rent and serves several brands.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change the answer</a:t>
            </a:r>
            <a:endParaRPr lang="en-US" sz="2600" dirty="0"/>
          </a:p>
        </p:txBody>
      </p:sp>
      <p:sp>
        <p:nvSpPr>
          <p:cNvPr id="3" name="risk card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Batteries last longer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most packs outlive the scooter, the battery wave shrinks: the bear case already assumes only 40% replace.</a:t>
            </a:r>
            <a:endParaRPr lang="en-US" sz="1400" dirty="0"/>
          </a:p>
        </p:txBody>
      </p:sp>
      <p:sp>
        <p:nvSpPr>
          <p:cNvPr id="6" name="risk card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OEMs lock in service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Software diagnostics and parts control can keep work inside OEM networks, cutting the independent share below 25%.</a:t>
            </a:r>
            <a:endParaRPr lang="en-US" sz="1400" dirty="0"/>
          </a:p>
        </p:txBody>
      </p:sp>
      <p:sp>
        <p:nvSpPr>
          <p:cNvPr id="9" name="risk card"/>
          <p:cNvSpPr/>
          <p:nvPr/>
        </p:nvSpPr>
        <p:spPr>
          <a:xfrm>
            <a:off x="548640" y="374904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Sales growth stalls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805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Growth slowed to 11% in CY2025. At 10% a year (other inputs at base) FY31 is about 10% smaller; the full bear case is about a third smaller.</a:t>
            </a:r>
            <a:endParaRPr lang="en-US" sz="1400" dirty="0"/>
          </a:p>
        </p:txBody>
      </p:sp>
      <p:sp>
        <p:nvSpPr>
          <p:cNvPr id="12" name="risk card"/>
          <p:cNvSpPr/>
          <p:nvPr/>
        </p:nvSpPr>
        <p:spPr>
          <a:xfrm>
            <a:off x="6172200" y="374904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Data gaps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4805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FY26 sales are an estimate from two sources, and there is no published average spend per EV.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steps: test the two inputs that matter most</a:t>
            </a:r>
            <a:endParaRPr lang="en-US" sz="2600" dirty="0"/>
          </a:p>
        </p:txBody>
      </p:sp>
      <p:sp>
        <p:nvSpPr>
          <p:cNvPr id="3" name="step card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4475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Owner survey (n ≈ 100)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do EV owners spend a year on service and parts, and where?</a:t>
            </a:r>
            <a:endParaRPr lang="en-US" sz="1400" dirty="0"/>
          </a:p>
        </p:txBody>
      </p:sp>
      <p:sp>
        <p:nvSpPr>
          <p:cNvPr id="6" name="step card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4203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 garage and OEM-service interviews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 mix, prices, parts access, share of EV work today.</a:t>
            </a:r>
            <a:endParaRPr lang="en-US" sz="1400" dirty="0"/>
          </a:p>
        </p:txBody>
      </p:sp>
      <p:sp>
        <p:nvSpPr>
          <p:cNvPr id="9" name="step card"/>
          <p:cNvSpPr/>
          <p:nvPr/>
        </p:nvSpPr>
        <p:spPr>
          <a:xfrm>
            <a:off x="548640" y="356616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63931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Battery health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Warranty claims and pack degradation by age from 1–2 OEMs or fleet operators.</a:t>
            </a:r>
            <a:endParaRPr lang="en-US" sz="1400" dirty="0"/>
          </a:p>
        </p:txBody>
      </p:sp>
      <p:sp>
        <p:nvSpPr>
          <p:cNvPr id="12" name="step card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7365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Update the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Replace assumed inputs with survey medians; re-run the sensitivity grid.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E2W sales FY22: Argus Media, citing Vahan (FY2021-22: 252,555 units).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E2W sales FY23: PIB annexure, state and month-wise E-2W registrations (Vahan 4): 7,28,271.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E2W sales FY24 and FY25: Ministry of Heavy Industries data via Times Drive (9,48,561 and 11,49,334).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FY26 total EV sales: IESA India's Mobility Report FY2025-26 (2.55 million); E2W share ~58%: JMK Research.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CY2025 E2W sales and penetration: EVreporter, Vahan dashboard (12,79,951; 6.3% of two-wheelers).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Maintenance spend: MeraEV (2026), ₹2,000–5,000 a year for e-scooters vs ₹3,500–6,000 for petrol scooters.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Battery replacement cost: e-vehicleinfo and BikeLeague (about ₹55,000–60,000).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Karnataka share: IESA via IANS (about 9% of national EV sales in CY2025, all vehicle types).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other inputs are labelled assumptions in model/ev2w_service_market.xlsx (Inputs sheet).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 Teal">
  <a:themeElements>
    <a:clrScheme name="EV Teal">
      <a:dk1>
        <a:srgbClr val="1B1B1B"/>
      </a:dk1>
      <a:lt1>
        <a:srgbClr val="FFFFFF"/>
      </a:lt1>
      <a:dk2>
        <a:srgbClr val="0B3C49"/>
      </a:dk2>
      <a:lt2>
        <a:srgbClr val="EEF5F3"/>
      </a:lt2>
      <a:accent1>
        <a:srgbClr val="028A74"/>
      </a:accent1>
      <a:accent2>
        <a:srgbClr val="F2A541"/>
      </a:accent2>
      <a:accent3>
        <a:srgbClr val="5B8C85"/>
      </a:accent3>
      <a:accent4>
        <a:srgbClr val="C44536"/>
      </a:accent4>
      <a:accent5>
        <a:srgbClr val="9DB4C0"/>
      </a:accent5>
      <a:accent6>
        <a:srgbClr val="3D5A80"/>
      </a:accent6>
      <a:hlink>
        <a:srgbClr val="028A74"/>
      </a:hlink>
      <a:folHlink>
        <a:srgbClr val="3D5A80"/>
      </a:folHlink>
    </a:clrScheme>
    <a:fontScheme name="EV Tea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E2W aftermarket sizing</dc:title>
  <dc:subject>PptxGenJS Presentation</dc:subject>
  <dc:creator>Pavitra Seth</dc:creator>
  <cp:lastModifiedBy>Pavitra Seth</cp:lastModifiedBy>
  <cp:revision>1</cp:revision>
  <dcterms:created xsi:type="dcterms:W3CDTF">2026-10-16T12:52:57Z</dcterms:created>
  <dcterms:modified xsi:type="dcterms:W3CDTF">2026-10-16T12:52:57Z</dcterms:modified>
</cp:coreProperties>
</file>